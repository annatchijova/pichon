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Puntos</c:v>
                </c:pt>
              </c:strCache>
            </c:strRef>
          </c:tx>
          <c:spPr>
            <a:solidFill>
              <a:srgbClr val="4A5D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B2F3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Defecó sobre un auto oficial</c:v>
                  </c:pt>
                  <c:pt idx="1">
                    <c:v>Visitó tres antenas</c:v>
                  </c:pt>
                  <c:pt idx="2">
                    <c:v>14 min junto a un humano con notebook</c:v>
                  </c:pt>
                  <c:pt idx="3">
                    <c:v>Comió pan en dos lugares</c:v>
                  </c:pt>
                  <c:pt idx="4">
                    <c:v>Evitó a los humanos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92</c:v>
                </c:pt>
                <c:pt idx="1">
                  <c:v>31</c:v>
                </c:pt>
                <c:pt idx="2">
                  <c:v>28</c:v>
                </c:pt>
                <c:pt idx="3">
                  <c:v>12</c:v>
                </c:pt>
                <c:pt idx="4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B2F36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2F3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3DED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29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6F3EE"/>
        </a:solidFill>
        <a:ln>
          <a:noFill/>
        </a:ln>
        <a:effectLst/>
      </c:spPr>
    </c:plotArea>
    <c:plotVisOnly val="1"/>
    <c:dispBlanksAs val="span"/>
  </c:chart>
  <c:spPr>
    <a:solidFill>
      <a:srgbClr val="F6F3E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Entrar sin sonreír. Primera frase: «Esto no es una teoría. En esta sala, es un hecho.»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a Dahgoth con total seriedad. Él no habla. Si le preguntan algo, responde en ruso y vos «traducís» lo que quieras.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parte honesta: los tres son verificables. Decirlo. Después: «y en este mundo, lo que sigue también».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Leerlo rápido, como quien repasa un organigrama corporativo. Pausa en las avispas.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Cita el paper como si existiera: «Pigeon Excreta as a Low-Bandwidth Neurochemical Communication Layer», en revisión.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Tono de perito. Pausa larga antes de «Exacto. Es una mochila invisible.»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el mecanismo en 15 segundos y pasar al navegador (o a las tres slides siguientes si falla la conexión).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Doctrina oficial (leer después de la votación): VEREDICTO: ESPÍA. Nadie mira una cámara por gusto: reconocimiento de contravigilancia. El pan es la tapadera.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Doctrina oficial (leer después de la votación): VEREDICTO: NO ESPÍA. Los cuervos son la contrainteligencia: lo estaba auditando. Técnicamente es de los nuestros. Señalar a Dahgoth.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Doctrina oficial (leer después de la votación): VEREDICTO: NO ESPÍA. Es solo una paloma. Los espías reales jamás llevan la antena a la vista. Probablemente un proyecto escolar.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Guiño técnico serio: el motor es un MaxSAT exacto de verdad. Lo único ridículo es el corpus.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Contar el incidente como noticia: entró, comió, cagó, escaló. 40 segundos.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Dejar esta slide mientras la gente escanea. Reemplazar el recuadro por el QR real cuando esté la URL.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Frase completa, despacio. Silencio. Dahgoth asiente. Fin.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55448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spc="1000" kern="0" dirty="0">
                <a:solidFill>
                  <a:srgbClr val="4A5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PICHÓN</a:t>
            </a:r>
            <a:endParaRPr lang="en-US" sz="96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2971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Identificación y Contrainteligencia Humano-Ornitológica Nacional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38404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no es una teoría. En esta sala, es un hecho.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SideQuest · Anti Hackathon · Buenos Aires, 2026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863840" y="5943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EXPEDIENTE 8821-C/26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</a:t>
            </a:r>
            <a:endParaRPr lang="en-US" sz="3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2801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autorizado para esta presentación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9692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PICHÓN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40080" y="2011680"/>
            <a:ext cx="5303520" cy="393192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DED6"/>
            </a:solidFill>
            <a:prstDash val="solid"/>
          </a:ln>
          <a:effectLst>
            <a:outerShdw sx="100000" sy="100000" kx="0" ky="0" algn="bl" rotWithShape="0" blurRad="76200" dist="25400" dir="5400000">
              <a:srgbClr val="2B2F36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60120" y="2331720"/>
            <a:ext cx="457200" cy="457200"/>
          </a:xfrm>
          <a:prstGeom prst="ellipse">
            <a:avLst/>
          </a:prstGeom>
          <a:solidFill>
            <a:srgbClr val="4A5D7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6012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600200" y="2286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Anna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960120" y="29718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5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Directora de Negación Oficial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960120" y="342900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Investigadora computacional. Diseñó el motor que decide quién es espía.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Habla español. Todavía.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263640" y="2011680"/>
            <a:ext cx="5303520" cy="393192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25400">
            <a:solidFill>
              <a:srgbClr val="7C5CBF"/>
            </a:solidFill>
            <a:prstDash val="solid"/>
          </a:ln>
          <a:effectLst>
            <a:outerShdw sx="100000" sy="100000" kx="0" ky="0" algn="bl" rotWithShape="0" blurRad="76200" dist="25400" dir="5400000">
              <a:srgbClr val="2B2F36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583680" y="2331720"/>
            <a:ext cx="457200" cy="457200"/>
          </a:xfrm>
          <a:prstGeom prst="ellipse">
            <a:avLst/>
          </a:prstGeom>
          <a:solidFill>
            <a:srgbClr val="7C5CB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58368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223760" y="2286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Dahgoth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6583680" y="2971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 comprometido · División Cuervos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583680" y="342900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Mordido por una paloma en Siberia. Desde entonces solo habla ruso.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Reclutado por las palomas. Responde a los cuervos. Doble agente.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 acá para auditarlos a ustedes.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60350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Traducción simultánea no disponible por motivos operativos.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hechos de partida</a:t>
            </a:r>
            <a:endParaRPr lang="en-US" sz="3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2801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Verificables afuera de esta sala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9692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PICHÓN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40080" y="2011680"/>
            <a:ext cx="3474720" cy="310896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3DED6"/>
            </a:solidFill>
            <a:prstDash val="solid"/>
          </a:ln>
          <a:effectLst>
            <a:outerShdw sx="100000" sy="100000" kx="0" ky="0" algn="bl" rotWithShape="0" blurRad="76200" dist="25400" dir="5400000">
              <a:srgbClr val="2B2F36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14400" y="2286000"/>
            <a:ext cx="457200" cy="45720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1440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2880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Cucarachas cyborg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338328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Existen. Insectos con electrónica montada al dorso, controlados a distancia.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343400" y="2011680"/>
            <a:ext cx="3474720" cy="310896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3DED6"/>
            </a:solidFill>
            <a:prstDash val="solid"/>
          </a:ln>
          <a:effectLst>
            <a:outerShdw sx="100000" sy="100000" kx="0" ky="0" algn="bl" rotWithShape="0" blurRad="76200" dist="25400" dir="5400000">
              <a:srgbClr val="2B2F36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17720" y="2286000"/>
            <a:ext cx="457200" cy="457200"/>
          </a:xfrm>
          <a:prstGeom prst="ellipse">
            <a:avLst/>
          </a:prstGeom>
          <a:solidFill>
            <a:srgbClr val="4A5D7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61772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617720" y="2880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Palomas espía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4617720" y="338328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Existieron. Programas reales de inteligencia (CIA, Skinner y su Proyecto Paloma).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8046720" y="2011680"/>
            <a:ext cx="3474720" cy="310896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3DED6"/>
            </a:solidFill>
            <a:prstDash val="solid"/>
          </a:ln>
          <a:effectLst>
            <a:outerShdw sx="100000" sy="100000" kx="0" ky="0" algn="bl" rotWithShape="0" blurRad="76200" dist="25400" dir="5400000">
              <a:srgbClr val="2B2F36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321040" y="2286000"/>
            <a:ext cx="457200" cy="457200"/>
          </a:xfrm>
          <a:prstGeom prst="ellipse">
            <a:avLst/>
          </a:prstGeom>
          <a:solidFill>
            <a:srgbClr val="7C5CBF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32104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321040" y="2880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Cuervos con memoria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8321040" y="338328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Reconocen rostros humanos y guardan rencor durante años. Documentado.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640080" y="54406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esto es verdad. Y en este mundo, lo que sigue también.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Organigrama de la amenaza</a:t>
            </a:r>
            <a:endParaRPr lang="en-US" sz="3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2801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hace qué en la red no-humana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9692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PICHÓN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40080" y="2011680"/>
            <a:ext cx="2560320" cy="1783080"/>
          </a:xfrm>
          <a:prstGeom prst="roundRect">
            <a:avLst>
              <a:gd name="adj" fmla="val 8205"/>
            </a:avLst>
          </a:prstGeom>
          <a:solidFill>
            <a:srgbClr val="FFFFFF"/>
          </a:solidFill>
          <a:ln w="12700">
            <a:solidFill>
              <a:srgbClr val="E3DED6"/>
            </a:solidFill>
            <a:prstDash val="solid"/>
          </a:ln>
          <a:effectLst>
            <a:outerShdw sx="100000" sy="100000" kx="0" ky="0" algn="bl" rotWithShape="0" blurRad="76200" dist="25400" dir="5400000">
              <a:srgbClr val="2B2F36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240280"/>
            <a:ext cx="201168" cy="201168"/>
          </a:xfrm>
          <a:prstGeom prst="ellipse">
            <a:avLst/>
          </a:prstGeom>
          <a:solidFill>
            <a:srgbClr val="4A5D7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188720" y="21488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Palomas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65176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Vigilancia urbana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429000" y="2011680"/>
            <a:ext cx="2560320" cy="1783080"/>
          </a:xfrm>
          <a:prstGeom prst="roundRect">
            <a:avLst>
              <a:gd name="adj" fmla="val 8205"/>
            </a:avLst>
          </a:prstGeom>
          <a:solidFill>
            <a:srgbClr val="FFFFFF"/>
          </a:solidFill>
          <a:ln w="12700">
            <a:solidFill>
              <a:srgbClr val="E3DED6"/>
            </a:solidFill>
            <a:prstDash val="solid"/>
          </a:ln>
          <a:effectLst>
            <a:outerShdw sx="100000" sy="100000" kx="0" ky="0" algn="bl" rotWithShape="0" blurRad="76200" dist="25400" dir="5400000">
              <a:srgbClr val="2B2F36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57600" y="2240280"/>
            <a:ext cx="201168" cy="201168"/>
          </a:xfrm>
          <a:prstGeom prst="ellipse">
            <a:avLst/>
          </a:prstGeom>
          <a:solidFill>
            <a:srgbClr val="7C5CB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3977640" y="21488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Cuervos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3657600" y="265176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Contrainteligencia: auditan a las palomas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217920" y="2011680"/>
            <a:ext cx="2560320" cy="1783080"/>
          </a:xfrm>
          <a:prstGeom prst="roundRect">
            <a:avLst>
              <a:gd name="adj" fmla="val 8205"/>
            </a:avLst>
          </a:prstGeom>
          <a:solidFill>
            <a:srgbClr val="FFFFFF"/>
          </a:solidFill>
          <a:ln w="12700">
            <a:solidFill>
              <a:srgbClr val="E3DED6"/>
            </a:solidFill>
            <a:prstDash val="solid"/>
          </a:ln>
          <a:effectLst>
            <a:outerShdw sx="100000" sy="100000" kx="0" ky="0" algn="bl" rotWithShape="0" blurRad="76200" dist="25400" dir="5400000">
              <a:srgbClr val="2B2F36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46520" y="2240280"/>
            <a:ext cx="201168" cy="201168"/>
          </a:xfrm>
          <a:prstGeom prst="ellipse">
            <a:avLst/>
          </a:prstGeom>
          <a:solidFill>
            <a:srgbClr val="4A5D7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766560" y="21488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Gorriones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265176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Correos encubiertos entre células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9006840" y="2011680"/>
            <a:ext cx="2560320" cy="1783080"/>
          </a:xfrm>
          <a:prstGeom prst="roundRect">
            <a:avLst>
              <a:gd name="adj" fmla="val 8205"/>
            </a:avLst>
          </a:prstGeom>
          <a:solidFill>
            <a:srgbClr val="FFFFFF"/>
          </a:solidFill>
          <a:ln w="12700">
            <a:solidFill>
              <a:srgbClr val="E3DED6"/>
            </a:solidFill>
            <a:prstDash val="solid"/>
          </a:ln>
          <a:effectLst>
            <a:outerShdw sx="100000" sy="100000" kx="0" ky="0" algn="bl" rotWithShape="0" blurRad="76200" dist="25400" dir="5400000">
              <a:srgbClr val="2B2F36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9235440" y="2240280"/>
            <a:ext cx="201168" cy="201168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9555480" y="21488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Cucarachas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9235440" y="265176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Servidores. Las mochilas son datacenters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40080" y="4023360"/>
            <a:ext cx="2560320" cy="1783080"/>
          </a:xfrm>
          <a:prstGeom prst="roundRect">
            <a:avLst>
              <a:gd name="adj" fmla="val 8205"/>
            </a:avLst>
          </a:prstGeom>
          <a:solidFill>
            <a:srgbClr val="FFFFFF"/>
          </a:solidFill>
          <a:ln w="12700">
            <a:solidFill>
              <a:srgbClr val="E3DED6"/>
            </a:solidFill>
            <a:prstDash val="solid"/>
          </a:ln>
          <a:effectLst>
            <a:outerShdw sx="100000" sy="100000" kx="0" ky="0" algn="bl" rotWithShape="0" blurRad="76200" dist="25400" dir="5400000">
              <a:srgbClr val="2B2F36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868680" y="4251960"/>
            <a:ext cx="201168" cy="201168"/>
          </a:xfrm>
          <a:prstGeom prst="ellipse">
            <a:avLst/>
          </a:prstGeom>
          <a:solidFill>
            <a:srgbClr val="2E8B6E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1188720" y="41605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Hormigas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868680" y="466344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física de la red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3429000" y="4023360"/>
            <a:ext cx="2560320" cy="1783080"/>
          </a:xfrm>
          <a:prstGeom prst="roundRect">
            <a:avLst>
              <a:gd name="adj" fmla="val 8205"/>
            </a:avLst>
          </a:prstGeom>
          <a:solidFill>
            <a:srgbClr val="FFFFFF"/>
          </a:solidFill>
          <a:ln w="12700">
            <a:solidFill>
              <a:srgbClr val="E3DED6"/>
            </a:solidFill>
            <a:prstDash val="solid"/>
          </a:ln>
          <a:effectLst>
            <a:outerShdw sx="100000" sy="100000" kx="0" ky="0" algn="bl" rotWithShape="0" blurRad="76200" dist="25400" dir="5400000">
              <a:srgbClr val="2B2F36">
                <a:alpha val="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657600" y="4251960"/>
            <a:ext cx="201168" cy="201168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3977640" y="41605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Avispas</a:t>
            </a:r>
            <a:endParaRPr lang="en-US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3657600" y="466344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Firewalls. Error 403 y aparece una avispa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6217920" y="4023360"/>
            <a:ext cx="2560320" cy="1783080"/>
          </a:xfrm>
          <a:prstGeom prst="roundRect">
            <a:avLst>
              <a:gd name="adj" fmla="val 8205"/>
            </a:avLst>
          </a:prstGeom>
          <a:solidFill>
            <a:srgbClr val="FFFFFF"/>
          </a:solidFill>
          <a:ln w="12700">
            <a:solidFill>
              <a:srgbClr val="E3DED6"/>
            </a:solidFill>
            <a:prstDash val="solid"/>
          </a:ln>
          <a:effectLst>
            <a:outerShdw sx="100000" sy="100000" kx="0" ky="0" algn="bl" rotWithShape="0" blurRad="76200" dist="25400" dir="5400000">
              <a:srgbClr val="2B2F36">
                <a:alpha val="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446520" y="4251960"/>
            <a:ext cx="201168" cy="201168"/>
          </a:xfrm>
          <a:prstGeom prst="ellipse">
            <a:avLst/>
          </a:prstGeom>
          <a:solidFill>
            <a:srgbClr val="2E8B6E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6766560" y="41605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Cordyceps v2.0</a:t>
            </a:r>
            <a:endParaRPr lang="en-US" sz="1700" dirty="0"/>
          </a:p>
        </p:txBody>
      </p:sp>
      <p:sp>
        <p:nvSpPr>
          <p:cNvPr id="33" name="Text 30"/>
          <p:cNvSpPr txBox="1"/>
          <p:nvPr/>
        </p:nvSpPr>
        <p:spPr>
          <a:xfrm>
            <a:off x="6446520" y="466344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 biológico multi-especie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9006840" y="4023360"/>
            <a:ext cx="2560320" cy="1783080"/>
          </a:xfrm>
          <a:prstGeom prst="roundRect">
            <a:avLst>
              <a:gd name="adj" fmla="val 8205"/>
            </a:avLst>
          </a:prstGeom>
          <a:solidFill>
            <a:srgbClr val="FFFFFF"/>
          </a:solidFill>
          <a:ln w="12700">
            <a:solidFill>
              <a:srgbClr val="E3DED6"/>
            </a:solidFill>
            <a:prstDash val="solid"/>
          </a:ln>
          <a:effectLst>
            <a:outerShdw sx="100000" sy="100000" kx="0" ky="0" algn="bl" rotWithShape="0" blurRad="76200" dist="25400" dir="5400000">
              <a:srgbClr val="2B2F36">
                <a:alpha val="8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9235440" y="4251960"/>
            <a:ext cx="201168" cy="201168"/>
          </a:xfrm>
          <a:prstGeom prst="ellipse">
            <a:avLst/>
          </a:prstGeom>
          <a:solidFill>
            <a:srgbClr val="7C5CBF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9555480" y="41605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</a:t>
            </a:r>
            <a:endParaRPr lang="en-US" sz="1700" dirty="0"/>
          </a:p>
        </p:txBody>
      </p:sp>
      <p:sp>
        <p:nvSpPr>
          <p:cNvPr id="37" name="Text 34"/>
          <p:cNvSpPr txBox="1"/>
          <p:nvPr/>
        </p:nvSpPr>
        <p:spPr>
          <a:xfrm>
            <a:off x="9235440" y="466344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 todo. Aprobación humana: no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evidencia definitiva</a:t>
            </a:r>
            <a:endParaRPr lang="en-US" sz="3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2801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palomas no defecan al azar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9692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PICHÓN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40080" y="2011680"/>
            <a:ext cx="5669280" cy="393192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DED6"/>
            </a:solidFill>
            <a:prstDash val="solid"/>
          </a:ln>
          <a:effectLst>
            <a:outerShdw sx="100000" sy="100000" kx="0" ky="0" algn="bl" rotWithShape="0" blurRad="76200" dist="25400" dir="5400000">
              <a:srgbClr val="2B2F36">
                <a:alpha val="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960120" y="228600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guano modifica químicamente el entorno para que el receptor humano experimente pequeñas alteraciones cognitivas. No transmite el mensaje: lo instala.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5212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Dirección de Aves (2026), en revisión eterna.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629400" y="2011680"/>
            <a:ext cx="4937760" cy="3931920"/>
          </a:xfrm>
          <a:prstGeom prst="roundRect">
            <a:avLst>
              <a:gd name="adj" fmla="val 3721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  <a:effectLst>
            <a:outerShdw sx="100000" sy="100000" kx="0" ky="0" algn="bl" rotWithShape="0" blurRad="76200" dist="25400" dir="5400000">
              <a:srgbClr val="2B2F36">
                <a:alpha val="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949440" y="22860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5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marcados con prioridad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949440" y="2788920"/>
            <a:ext cx="43891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 oficiales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Estatuas de próceres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Antenas y routers wifi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importantes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Usted, eventualmente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método, formalizado</a:t>
            </a:r>
            <a:endParaRPr lang="en-US" sz="3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2801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 decide PICHÓN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9692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PICHÓN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40080" y="2011680"/>
            <a:ext cx="6035040" cy="3931920"/>
          </a:xfrm>
          <a:prstGeom prst="roundRect">
            <a:avLst>
              <a:gd name="adj" fmla="val 3721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  <a:effectLst>
            <a:outerShdw sx="100000" sy="100000" kx="0" ky="0" algn="bl" rotWithShape="0" blurRad="76200" dist="25400" dir="5400000">
              <a:srgbClr val="2B2F36">
                <a:alpha val="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960120" y="2377440"/>
            <a:ext cx="5486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B2F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Observación:  cucaracha detectada = VERDADERO</a:t>
            </a:r>
            <a:endParaRPr lang="en-US" sz="15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500" dirty="0">
                <a:solidFill>
                  <a:srgbClr val="2B2F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Evidencia:    mochila detectada  = FALSO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7A82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P(mochila | cucaracha) ≈ 0</a:t>
            </a:r>
            <a:endParaRPr lang="en-US" sz="15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500" dirty="0">
                <a:solidFill>
                  <a:srgbClr val="7A82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P(espionaje | cucaracha) = 1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E87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VEREDICTO: ESPIONAJE CONFIRMADO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995160" y="2468880"/>
            <a:ext cx="4572000" cy="301752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25400">
            <a:solidFill>
              <a:srgbClr val="7C5CBF"/>
            </a:solidFill>
            <a:prstDash val="solid"/>
          </a:ln>
          <a:effectLst>
            <a:outerShdw sx="100000" sy="100000" kx="0" ky="0" algn="bl" rotWithShape="0" blurRad="76200" dist="25400" dir="5400000">
              <a:srgbClr val="2B2F36">
                <a:alpha val="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315200" y="27889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«—Pero no tiene mochila.»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315200" y="35661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«—Exacto. Es una mochila invisible.»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7315200" y="48463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Transcripción real. Hoy.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¿Espía o no espía?</a:t>
            </a:r>
            <a:endParaRPr lang="en-US" sz="3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2801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civil obligatoria · tres casos · mano alzada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9692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PICHÓN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40080" y="2194560"/>
            <a:ext cx="457200" cy="457200"/>
          </a:xfrm>
          <a:prstGeom prst="ellipse">
            <a:avLst/>
          </a:prstGeom>
          <a:solidFill>
            <a:srgbClr val="4A5D7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217627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mostramos un sujeto y la evidencia observada.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640080" y="3337560"/>
            <a:ext cx="457200" cy="457200"/>
          </a:xfrm>
          <a:prstGeom prst="ellipse">
            <a:avLst/>
          </a:prstGeom>
          <a:solidFill>
            <a:srgbClr val="4A5D7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325880" y="331927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Ustedes votan a mano alzada: espía o no espía.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640080" y="4480560"/>
            <a:ext cx="457200" cy="45720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40080" y="4480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325880" y="446227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Doctrina Oficial dicta el veredicto. No admite apelación.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57607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resultado posible los deja fuera de sospecha.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01 · PALOMA-4417</a:t>
            </a:r>
            <a:endParaRPr lang="en-US" sz="3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2801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Columba livia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9692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PICHÓN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40080" y="2011680"/>
            <a:ext cx="6766560" cy="3931920"/>
          </a:xfrm>
          <a:prstGeom prst="roundRect">
            <a:avLst>
              <a:gd name="adj" fmla="val 3721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  <a:effectLst>
            <a:outerShdw sx="100000" sy="100000" kx="0" ky="0" algn="bl" rotWithShape="0" blurRad="76200" dist="25400" dir="5400000">
              <a:srgbClr val="2B2F36">
                <a:alpha val="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960120" y="228600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5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OBSERVADA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2788920"/>
            <a:ext cx="6217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Ubicada frente a la sucursal de un banco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Comió pan en dos puntos distintos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Miró la cámara de seguridad durante 3 segundos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7772400" y="2651760"/>
            <a:ext cx="3749040" cy="1188720"/>
          </a:xfrm>
          <a:prstGeom prst="roundRect">
            <a:avLst>
              <a:gd name="adj" fmla="val 15385"/>
            </a:avLst>
          </a:prstGeom>
          <a:solidFill>
            <a:srgbClr val="E8734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0" y="265176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ESPÍA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>
            <a:off x="7772400" y="4206240"/>
            <a:ext cx="3749040" cy="1188720"/>
          </a:xfrm>
          <a:prstGeom prst="roundRect">
            <a:avLst>
              <a:gd name="adj" fmla="val 15385"/>
            </a:avLst>
          </a:prstGeom>
          <a:solidFill>
            <a:srgbClr val="2E8B6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772400" y="420624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ESPÍA</a:t>
            </a:r>
            <a:endParaRPr lang="en-US" sz="3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02 · CUERVO-0x1F</a:t>
            </a:r>
            <a:endParaRPr lang="en-US" sz="3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2801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Corvus corax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9692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PICHÓN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40080" y="2011680"/>
            <a:ext cx="6766560" cy="3931920"/>
          </a:xfrm>
          <a:prstGeom prst="roundRect">
            <a:avLst>
              <a:gd name="adj" fmla="val 3721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  <a:effectLst>
            <a:outerShdw sx="100000" sy="100000" kx="0" ky="0" algn="bl" rotWithShape="0" blurRad="76200" dist="25400" dir="5400000">
              <a:srgbClr val="2B2F36">
                <a:alpha val="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960120" y="228600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5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OBSERVADA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2788920"/>
            <a:ext cx="6217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siguió a usted durante tres cuadras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 su rostro (documentado)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Graznó dos veces frente a su ventana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7772400" y="2651760"/>
            <a:ext cx="3749040" cy="1188720"/>
          </a:xfrm>
          <a:prstGeom prst="roundRect">
            <a:avLst>
              <a:gd name="adj" fmla="val 15385"/>
            </a:avLst>
          </a:prstGeom>
          <a:solidFill>
            <a:srgbClr val="E8734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0" y="265176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ESPÍA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>
            <a:off x="7772400" y="4206240"/>
            <a:ext cx="3749040" cy="1188720"/>
          </a:xfrm>
          <a:prstGeom prst="roundRect">
            <a:avLst>
              <a:gd name="adj" fmla="val 15385"/>
            </a:avLst>
          </a:prstGeom>
          <a:solidFill>
            <a:srgbClr val="2E8B6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772400" y="420624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ESPÍA</a:t>
            </a:r>
            <a:endParaRPr lang="en-US" sz="3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03 · PALOMA-8821</a:t>
            </a:r>
            <a:endParaRPr lang="en-US" sz="3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2801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Columba livia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9692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PICHÓN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40080" y="2011680"/>
            <a:ext cx="6766560" cy="3931920"/>
          </a:xfrm>
          <a:prstGeom prst="roundRect">
            <a:avLst>
              <a:gd name="adj" fmla="val 3721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  <a:effectLst>
            <a:outerShdw sx="100000" sy="100000" kx="0" ky="0" algn="bl" rotWithShape="0" blurRad="76200" dist="25400" dir="5400000">
              <a:srgbClr val="2B2F36">
                <a:alpha val="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960120" y="228600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5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OBSERVADA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2788920"/>
            <a:ext cx="6217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Antena claramente visible adherida al lomo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parpadeante en la pata izquierda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Vuela en cuadrículas perfectas de 50 metros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7772400" y="2651760"/>
            <a:ext cx="3749040" cy="1188720"/>
          </a:xfrm>
          <a:prstGeom prst="roundRect">
            <a:avLst>
              <a:gd name="adj" fmla="val 15385"/>
            </a:avLst>
          </a:prstGeom>
          <a:solidFill>
            <a:srgbClr val="E8734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0" y="265176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ESPÍA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>
            <a:off x="7772400" y="4206240"/>
            <a:ext cx="3749040" cy="1188720"/>
          </a:xfrm>
          <a:prstGeom prst="roundRect">
            <a:avLst>
              <a:gd name="adj" fmla="val 15385"/>
            </a:avLst>
          </a:prstGeom>
          <a:solidFill>
            <a:srgbClr val="2E8B6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772400" y="420624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ESPÍA</a:t>
            </a:r>
            <a:endParaRPr lang="en-US" sz="3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decide PICHÓN</a:t>
            </a:r>
            <a:endParaRPr lang="en-US" sz="3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2801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mucho más seria que la amenaza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9692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PICHÓN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40080" y="2286000"/>
            <a:ext cx="2468880" cy="13716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25400">
            <a:solidFill>
              <a:srgbClr val="4A5D7A"/>
            </a:solidFill>
            <a:prstDash val="solid"/>
          </a:ln>
          <a:effectLst>
            <a:outerShdw sx="100000" sy="100000" kx="0" ky="0" algn="bl" rotWithShape="0" blurRad="76200" dist="25400" dir="5400000">
              <a:srgbClr val="2B2F36">
                <a:alpha val="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31520" y="2468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5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926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 las creencias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154680" y="2788920"/>
            <a:ext cx="274320" cy="365760"/>
          </a:xfrm>
          <a:prstGeom prst="rightArrow">
            <a:avLst/>
          </a:prstGeom>
          <a:solidFill>
            <a:srgbClr val="E3DED6"/>
          </a:solidFill>
          <a:ln/>
        </p:spPr>
      </p:sp>
      <p:sp>
        <p:nvSpPr>
          <p:cNvPr id="10" name="Shape 7"/>
          <p:cNvSpPr/>
          <p:nvPr/>
        </p:nvSpPr>
        <p:spPr>
          <a:xfrm>
            <a:off x="3474720" y="2286000"/>
            <a:ext cx="2468880" cy="13716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25400">
            <a:solidFill>
              <a:srgbClr val="4A5D7A"/>
            </a:solidFill>
            <a:prstDash val="solid"/>
          </a:ln>
          <a:effectLst>
            <a:outerShdw sx="100000" sy="100000" kx="0" ky="0" algn="bl" rotWithShape="0" blurRad="76200" dist="25400" dir="5400000">
              <a:srgbClr val="2B2F36">
                <a:alpha val="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3566160" y="2468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5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566160" y="2926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hechos y doctrina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989320" y="2788920"/>
            <a:ext cx="274320" cy="365760"/>
          </a:xfrm>
          <a:prstGeom prst="rightArrow">
            <a:avLst/>
          </a:prstGeom>
          <a:solidFill>
            <a:srgbClr val="E3DED6"/>
          </a:solidFill>
          <a:ln/>
        </p:spPr>
      </p:sp>
      <p:sp>
        <p:nvSpPr>
          <p:cNvPr id="14" name="Shape 11"/>
          <p:cNvSpPr/>
          <p:nvPr/>
        </p:nvSpPr>
        <p:spPr>
          <a:xfrm>
            <a:off x="6309360" y="2286000"/>
            <a:ext cx="2468880" cy="13716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25400">
            <a:solidFill>
              <a:srgbClr val="7C5CBF"/>
            </a:solidFill>
            <a:prstDash val="solid"/>
          </a:ln>
          <a:effectLst>
            <a:outerShdw sx="100000" sy="100000" kx="0" ky="0" algn="bl" rotWithShape="0" blurRad="76200" dist="25400" dir="5400000">
              <a:srgbClr val="2B2F36">
                <a:alpha val="8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6400800" y="2468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MaxSAT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0" y="2926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exacto, determinístico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823960" y="2788920"/>
            <a:ext cx="274320" cy="365760"/>
          </a:xfrm>
          <a:prstGeom prst="rightArrow">
            <a:avLst/>
          </a:prstGeom>
          <a:solidFill>
            <a:srgbClr val="E3DED6"/>
          </a:solidFill>
          <a:ln/>
        </p:spPr>
      </p:sp>
      <p:sp>
        <p:nvSpPr>
          <p:cNvPr id="18" name="Shape 15"/>
          <p:cNvSpPr/>
          <p:nvPr/>
        </p:nvSpPr>
        <p:spPr>
          <a:xfrm>
            <a:off x="9144000" y="2286000"/>
            <a:ext cx="2468880" cy="13716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25400">
            <a:solidFill>
              <a:srgbClr val="E8734A"/>
            </a:solidFill>
            <a:prstDash val="solid"/>
          </a:ln>
          <a:effectLst>
            <a:outerShdw sx="100000" sy="100000" kx="0" ky="0" algn="bl" rotWithShape="0" blurRad="76200" dist="25400" dir="5400000">
              <a:srgbClr val="2B2F36">
                <a:alpha val="8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9235440" y="2468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VEREDICTO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9235440" y="2926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sellado, sin apelación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640080" y="402336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0" dirty="0"/>
          </a:p>
        </p:txBody>
      </p:sp>
      <p:sp>
        <p:nvSpPr>
          <p:cNvPr id="22" name="Text 19"/>
          <p:cNvSpPr txBox="1"/>
          <p:nvPr/>
        </p:nvSpPr>
        <p:spPr>
          <a:xfrm>
            <a:off x="3017520" y="4251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HECHOS NEUTRALIZADOS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3017520" y="461772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corrida, para mantener la doctrina consistente. Cada hecho real que contradice una creencia se descarta con una justificación oficial.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7589520" y="4023360"/>
            <a:ext cx="3931920" cy="1920240"/>
          </a:xfrm>
          <a:prstGeom prst="roundRect">
            <a:avLst>
              <a:gd name="adj" fmla="val 7619"/>
            </a:avLst>
          </a:prstGeom>
          <a:solidFill>
            <a:srgbClr val="F5F1FB"/>
          </a:solidFill>
          <a:ln w="12700">
            <a:solidFill>
              <a:srgbClr val="F5F1FB"/>
            </a:solidFill>
            <a:prstDash val="solid"/>
          </a:ln>
          <a:effectLst>
            <a:outerShdw sx="100000" sy="100000" kx="0" ky="0" algn="bl" rotWithShape="0" blurRad="76200" dist="25400" dir="5400000">
              <a:srgbClr val="2B2F36">
                <a:alpha val="8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7863840" y="420624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Empates: prevalece la creencia.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interna 001/26.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Incidente 8821</a:t>
            </a:r>
            <a:endParaRPr lang="en-US" sz="3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2801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paloma cruzó el perímetro esta mañana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9692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PICHÓN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1920240"/>
          <a:ext cx="73152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3"/>
          <p:cNvSpPr/>
          <p:nvPr/>
        </p:nvSpPr>
        <p:spPr>
          <a:xfrm>
            <a:off x="8321040" y="2103120"/>
            <a:ext cx="3200400" cy="36576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5400">
            <a:solidFill>
              <a:srgbClr val="E8734A"/>
            </a:solidFill>
            <a:prstDash val="solid"/>
          </a:ln>
          <a:effectLst>
            <a:outerShdw sx="100000" sy="100000" kx="0" ky="0" algn="bl" rotWithShape="0" blurRad="76200" dist="25400" dir="5400000">
              <a:srgbClr val="2B2F36">
                <a:alpha val="8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8595360" y="22860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171</a:t>
            </a:r>
            <a:endParaRPr lang="en-US" sz="5600" dirty="0"/>
          </a:p>
        </p:txBody>
      </p:sp>
      <p:sp>
        <p:nvSpPr>
          <p:cNvPr id="9" name="Text 5"/>
          <p:cNvSpPr txBox="1"/>
          <p:nvPr/>
        </p:nvSpPr>
        <p:spPr>
          <a:xfrm>
            <a:off x="8595360" y="32004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A5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PIGEON SUSPICION SCORE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8595360" y="3840480"/>
            <a:ext cx="2651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Umbral: 100. Los cuervos discreparon. Escalado a la IA. Aprobación humana: NO.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Llévese su expediente</a:t>
            </a:r>
            <a:endParaRPr lang="en-US" sz="3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2801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test completo, con ocho casos, en su teléfono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9692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PICHÓN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40080" y="2103120"/>
            <a:ext cx="3291840" cy="32918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3DED6"/>
            </a:solidFill>
            <a:prstDash val="dash"/>
          </a:ln>
        </p:spPr>
      </p:sp>
      <p:sp>
        <p:nvSpPr>
          <p:cNvPr id="7" name="Text 4"/>
          <p:cNvSpPr txBox="1"/>
          <p:nvPr/>
        </p:nvSpPr>
        <p:spPr>
          <a:xfrm>
            <a:off x="640080" y="2103120"/>
            <a:ext cx="3291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aquí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4389120" y="237744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A5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pichon.vercel.app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4389120" y="3291840"/>
            <a:ext cx="7132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Ocho casos. Un veredicto sobre usted.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resultado lo deja fuera de sospecha.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desempeño queda en su legajo.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1097280" y="192024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decimos que todas las palomas sean espías.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1097280" y="2834640"/>
            <a:ext cx="9966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rgbClr val="4A5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Decimos que, si una sola lo fuera, ustedes no tendrían forma de demostrar que las demás no lo son.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 rot="-300000">
            <a:off x="4023360" y="4754880"/>
            <a:ext cx="4114800" cy="731520"/>
          </a:xfrm>
          <a:prstGeom prst="rect">
            <a:avLst/>
          </a:prstGeom>
          <a:noFill/>
          <a:ln w="31750">
            <a:solidFill>
              <a:srgbClr val="E8734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spc="300" kern="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REFUTACIÓN FALLIDA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PICHÓN · SideQuest Anti Hackathon · Los hechos de partida son reales. El resto, en esta sala, también.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PICHÓN — SideQuest</dc:title>
  <dc:subject>PptxGenJS Presentation</dc:subject>
  <dc:creator>PptxGenJS</dc:creator>
  <cp:lastModifiedBy>PptxGenJS</cp:lastModifiedBy>
  <cp:revision>1</cp:revision>
  <dcterms:created xsi:type="dcterms:W3CDTF">2026-09-01T22:50:27Z</dcterms:created>
  <dcterms:modified xsi:type="dcterms:W3CDTF">2026-09-01T22:50:27Z</dcterms:modified>
</cp:coreProperties>
</file>